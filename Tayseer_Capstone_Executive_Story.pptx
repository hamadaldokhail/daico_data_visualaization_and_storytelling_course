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tory" id="{963825b1-e7c9-423b-9cbb-1705ed84dfe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Appendix" id="{5ebffab8-db65-a6fa-fa5c-7584db003cb5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National digital adoption %</c:v>
                </c:pt>
              </c:strCache>
            </c:strRef>
          </c:tx>
          <c:spPr>
            <a:solidFill>
              <a:srgbClr val="1B7F5B"/>
            </a:solidFill>
            <a:ln w="31750" cap="flat">
              <a:solidFill>
                <a:srgbClr val="1B7F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7F5B"/>
              </a:solidFill>
              <a:ln w="9525" cap="flat">
                <a:solidFill>
                  <a:srgbClr val="1B7F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Jan 22</c:v>
                  </c:pt>
                  <c:pt idx="1">
                    <c:v>Feb 22</c:v>
                  </c:pt>
                  <c:pt idx="2">
                    <c:v>Mar 22</c:v>
                  </c:pt>
                  <c:pt idx="3">
                    <c:v>Apr 22</c:v>
                  </c:pt>
                  <c:pt idx="4">
                    <c:v>May 22</c:v>
                  </c:pt>
                  <c:pt idx="5">
                    <c:v>Jun 22</c:v>
                  </c:pt>
                  <c:pt idx="6">
                    <c:v>Jul 22</c:v>
                  </c:pt>
                  <c:pt idx="7">
                    <c:v>Aug 22</c:v>
                  </c:pt>
                  <c:pt idx="8">
                    <c:v>Sep 22</c:v>
                  </c:pt>
                  <c:pt idx="9">
                    <c:v>Oct 22</c:v>
                  </c:pt>
                  <c:pt idx="10">
                    <c:v>Nov 22</c:v>
                  </c:pt>
                  <c:pt idx="11">
                    <c:v>Dec 22</c:v>
                  </c:pt>
                  <c:pt idx="12">
                    <c:v>Jan 23</c:v>
                  </c:pt>
                  <c:pt idx="13">
                    <c:v>Feb 23</c:v>
                  </c:pt>
                  <c:pt idx="14">
                    <c:v>Mar 23</c:v>
                  </c:pt>
                  <c:pt idx="15">
                    <c:v>Apr 23</c:v>
                  </c:pt>
                  <c:pt idx="16">
                    <c:v>May 23</c:v>
                  </c:pt>
                  <c:pt idx="17">
                    <c:v>Jun 23</c:v>
                  </c:pt>
                  <c:pt idx="18">
                    <c:v>Jul 23</c:v>
                  </c:pt>
                  <c:pt idx="19">
                    <c:v>Aug 23</c:v>
                  </c:pt>
                  <c:pt idx="20">
                    <c:v>Sep 23</c:v>
                  </c:pt>
                  <c:pt idx="21">
                    <c:v>Oct 23</c:v>
                  </c:pt>
                  <c:pt idx="22">
                    <c:v>Nov 23</c:v>
                  </c:pt>
                  <c:pt idx="23">
                    <c:v>Dec 23</c:v>
                  </c:pt>
                  <c:pt idx="24">
                    <c:v>Jan 24</c:v>
                  </c:pt>
                  <c:pt idx="25">
                    <c:v>Feb 24</c:v>
                  </c:pt>
                  <c:pt idx="26">
                    <c:v>Mar 24</c:v>
                  </c:pt>
                  <c:pt idx="27">
                    <c:v>Apr 24</c:v>
                  </c:pt>
                  <c:pt idx="28">
                    <c:v>May 24</c:v>
                  </c:pt>
                  <c:pt idx="29">
                    <c:v>Jun 24</c:v>
                  </c:pt>
                  <c:pt idx="30">
                    <c:v>Jul 24</c:v>
                  </c:pt>
                  <c:pt idx="31">
                    <c:v>Aug 24</c:v>
                  </c:pt>
                  <c:pt idx="32">
                    <c:v>Sep 24</c:v>
                  </c:pt>
                  <c:pt idx="33">
                    <c:v>Oct 24</c:v>
                  </c:pt>
                  <c:pt idx="34">
                    <c:v>Nov 24</c:v>
                  </c:pt>
                  <c:pt idx="35">
                    <c:v>Dec 24</c:v>
                  </c:pt>
                  <c:pt idx="36">
                    <c:v>Jan 25</c:v>
                  </c:pt>
                  <c:pt idx="37">
                    <c:v>Feb 25</c:v>
                  </c:pt>
                  <c:pt idx="38">
                    <c:v>Mar 25</c:v>
                  </c:pt>
                  <c:pt idx="39">
                    <c:v>Apr 25</c:v>
                  </c:pt>
                  <c:pt idx="40">
                    <c:v>May 25</c:v>
                  </c:pt>
                  <c:pt idx="41">
                    <c:v>Jun 25</c:v>
                  </c:pt>
                  <c:pt idx="42">
                    <c:v>Jul 25</c:v>
                  </c:pt>
                  <c:pt idx="43">
                    <c:v>Aug 25</c:v>
                  </c:pt>
                  <c:pt idx="44">
                    <c:v>Sep 25</c:v>
                  </c:pt>
                  <c:pt idx="45">
                    <c:v>Oct 25</c:v>
                  </c:pt>
                  <c:pt idx="46">
                    <c:v>Nov 25</c:v>
                  </c:pt>
                  <c:pt idx="47">
                    <c:v>Dec 25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54.14</c:v>
                </c:pt>
                <c:pt idx="1">
                  <c:v>54.04</c:v>
                </c:pt>
                <c:pt idx="2">
                  <c:v>54.55</c:v>
                </c:pt>
                <c:pt idx="3">
                  <c:v>54.73</c:v>
                </c:pt>
                <c:pt idx="4">
                  <c:v>55.22</c:v>
                </c:pt>
                <c:pt idx="5">
                  <c:v>55.2</c:v>
                </c:pt>
                <c:pt idx="6">
                  <c:v>55.55</c:v>
                </c:pt>
                <c:pt idx="7">
                  <c:v>56.08</c:v>
                </c:pt>
                <c:pt idx="8">
                  <c:v>55.88</c:v>
                </c:pt>
                <c:pt idx="9">
                  <c:v>56.45</c:v>
                </c:pt>
                <c:pt idx="10">
                  <c:v>56.72</c:v>
                </c:pt>
                <c:pt idx="11">
                  <c:v>56.6</c:v>
                </c:pt>
                <c:pt idx="12">
                  <c:v>57.02</c:v>
                </c:pt>
                <c:pt idx="13">
                  <c:v>57.43</c:v>
                </c:pt>
                <c:pt idx="14">
                  <c:v>57.47</c:v>
                </c:pt>
                <c:pt idx="15">
                  <c:v>58.01</c:v>
                </c:pt>
                <c:pt idx="16">
                  <c:v>58.44</c:v>
                </c:pt>
                <c:pt idx="17">
                  <c:v>58.38</c:v>
                </c:pt>
                <c:pt idx="18">
                  <c:v>58.89</c:v>
                </c:pt>
                <c:pt idx="19">
                  <c:v>59.02</c:v>
                </c:pt>
                <c:pt idx="20">
                  <c:v>59.23</c:v>
                </c:pt>
                <c:pt idx="21">
                  <c:v>59.25</c:v>
                </c:pt>
                <c:pt idx="22">
                  <c:v>59.58</c:v>
                </c:pt>
                <c:pt idx="23">
                  <c:v>59.85</c:v>
                </c:pt>
                <c:pt idx="24">
                  <c:v>60.38</c:v>
                </c:pt>
                <c:pt idx="25">
                  <c:v>60.55</c:v>
                </c:pt>
                <c:pt idx="26">
                  <c:v>60.77</c:v>
                </c:pt>
                <c:pt idx="27">
                  <c:v>60.85</c:v>
                </c:pt>
                <c:pt idx="28">
                  <c:v>61.35</c:v>
                </c:pt>
                <c:pt idx="29">
                  <c:v>61.52</c:v>
                </c:pt>
                <c:pt idx="30">
                  <c:v>62.01</c:v>
                </c:pt>
                <c:pt idx="31">
                  <c:v>61.83</c:v>
                </c:pt>
                <c:pt idx="32">
                  <c:v>62.58</c:v>
                </c:pt>
                <c:pt idx="33">
                  <c:v>62.79</c:v>
                </c:pt>
                <c:pt idx="34">
                  <c:v>62.79</c:v>
                </c:pt>
                <c:pt idx="35">
                  <c:v>63.26</c:v>
                </c:pt>
                <c:pt idx="36">
                  <c:v>63.42</c:v>
                </c:pt>
                <c:pt idx="37">
                  <c:v>63.78</c:v>
                </c:pt>
                <c:pt idx="38">
                  <c:v>63.66</c:v>
                </c:pt>
                <c:pt idx="39">
                  <c:v>64.06</c:v>
                </c:pt>
                <c:pt idx="40">
                  <c:v>64.19</c:v>
                </c:pt>
                <c:pt idx="41">
                  <c:v>64.6</c:v>
                </c:pt>
                <c:pt idx="42">
                  <c:v>64.98</c:v>
                </c:pt>
                <c:pt idx="43">
                  <c:v>65.2</c:v>
                </c:pt>
                <c:pt idx="44">
                  <c:v>65.51</c:v>
                </c:pt>
                <c:pt idx="45">
                  <c:v>65.7</c:v>
                </c:pt>
                <c:pt idx="46">
                  <c:v>65.98</c:v>
                </c:pt>
                <c:pt idx="47">
                  <c:v>66.21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65% target</c:v>
                </c:pt>
              </c:strCache>
            </c:strRef>
          </c:tx>
          <c:spPr>
            <a:solidFill>
              <a:srgbClr val="C2452D"/>
            </a:solidFill>
            <a:ln w="31750" cap="flat">
              <a:solidFill>
                <a:srgbClr val="C245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452D"/>
              </a:solidFill>
              <a:ln w="9525" cap="flat">
                <a:solidFill>
                  <a:srgbClr val="C245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Jan 22</c:v>
                  </c:pt>
                  <c:pt idx="1">
                    <c:v>Feb 22</c:v>
                  </c:pt>
                  <c:pt idx="2">
                    <c:v>Mar 22</c:v>
                  </c:pt>
                  <c:pt idx="3">
                    <c:v>Apr 22</c:v>
                  </c:pt>
                  <c:pt idx="4">
                    <c:v>May 22</c:v>
                  </c:pt>
                  <c:pt idx="5">
                    <c:v>Jun 22</c:v>
                  </c:pt>
                  <c:pt idx="6">
                    <c:v>Jul 22</c:v>
                  </c:pt>
                  <c:pt idx="7">
                    <c:v>Aug 22</c:v>
                  </c:pt>
                  <c:pt idx="8">
                    <c:v>Sep 22</c:v>
                  </c:pt>
                  <c:pt idx="9">
                    <c:v>Oct 22</c:v>
                  </c:pt>
                  <c:pt idx="10">
                    <c:v>Nov 22</c:v>
                  </c:pt>
                  <c:pt idx="11">
                    <c:v>Dec 22</c:v>
                  </c:pt>
                  <c:pt idx="12">
                    <c:v>Jan 23</c:v>
                  </c:pt>
                  <c:pt idx="13">
                    <c:v>Feb 23</c:v>
                  </c:pt>
                  <c:pt idx="14">
                    <c:v>Mar 23</c:v>
                  </c:pt>
                  <c:pt idx="15">
                    <c:v>Apr 23</c:v>
                  </c:pt>
                  <c:pt idx="16">
                    <c:v>May 23</c:v>
                  </c:pt>
                  <c:pt idx="17">
                    <c:v>Jun 23</c:v>
                  </c:pt>
                  <c:pt idx="18">
                    <c:v>Jul 23</c:v>
                  </c:pt>
                  <c:pt idx="19">
                    <c:v>Aug 23</c:v>
                  </c:pt>
                  <c:pt idx="20">
                    <c:v>Sep 23</c:v>
                  </c:pt>
                  <c:pt idx="21">
                    <c:v>Oct 23</c:v>
                  </c:pt>
                  <c:pt idx="22">
                    <c:v>Nov 23</c:v>
                  </c:pt>
                  <c:pt idx="23">
                    <c:v>Dec 23</c:v>
                  </c:pt>
                  <c:pt idx="24">
                    <c:v>Jan 24</c:v>
                  </c:pt>
                  <c:pt idx="25">
                    <c:v>Feb 24</c:v>
                  </c:pt>
                  <c:pt idx="26">
                    <c:v>Mar 24</c:v>
                  </c:pt>
                  <c:pt idx="27">
                    <c:v>Apr 24</c:v>
                  </c:pt>
                  <c:pt idx="28">
                    <c:v>May 24</c:v>
                  </c:pt>
                  <c:pt idx="29">
                    <c:v>Jun 24</c:v>
                  </c:pt>
                  <c:pt idx="30">
                    <c:v>Jul 24</c:v>
                  </c:pt>
                  <c:pt idx="31">
                    <c:v>Aug 24</c:v>
                  </c:pt>
                  <c:pt idx="32">
                    <c:v>Sep 24</c:v>
                  </c:pt>
                  <c:pt idx="33">
                    <c:v>Oct 24</c:v>
                  </c:pt>
                  <c:pt idx="34">
                    <c:v>Nov 24</c:v>
                  </c:pt>
                  <c:pt idx="35">
                    <c:v>Dec 24</c:v>
                  </c:pt>
                  <c:pt idx="36">
                    <c:v>Jan 25</c:v>
                  </c:pt>
                  <c:pt idx="37">
                    <c:v>Feb 25</c:v>
                  </c:pt>
                  <c:pt idx="38">
                    <c:v>Mar 25</c:v>
                  </c:pt>
                  <c:pt idx="39">
                    <c:v>Apr 25</c:v>
                  </c:pt>
                  <c:pt idx="40">
                    <c:v>May 25</c:v>
                  </c:pt>
                  <c:pt idx="41">
                    <c:v>Jun 25</c:v>
                  </c:pt>
                  <c:pt idx="42">
                    <c:v>Jul 25</c:v>
                  </c:pt>
                  <c:pt idx="43">
                    <c:v>Aug 25</c:v>
                  </c:pt>
                  <c:pt idx="44">
                    <c:v>Sep 25</c:v>
                  </c:pt>
                  <c:pt idx="45">
                    <c:v>Oct 25</c:v>
                  </c:pt>
                  <c:pt idx="46">
                    <c:v>Nov 25</c:v>
                  </c:pt>
                  <c:pt idx="47">
                    <c:v>Dec 25</c:v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  <c:pt idx="4">
                  <c:v>65</c:v>
                </c:pt>
                <c:pt idx="5">
                  <c:v>65</c:v>
                </c:pt>
                <c:pt idx="6">
                  <c:v>65</c:v>
                </c:pt>
                <c:pt idx="7">
                  <c:v>65</c:v>
                </c:pt>
                <c:pt idx="8">
                  <c:v>65</c:v>
                </c:pt>
                <c:pt idx="9">
                  <c:v>65</c:v>
                </c:pt>
                <c:pt idx="10">
                  <c:v>65</c:v>
                </c:pt>
                <c:pt idx="11">
                  <c:v>65</c:v>
                </c:pt>
                <c:pt idx="12">
                  <c:v>65</c:v>
                </c:pt>
                <c:pt idx="13">
                  <c:v>65</c:v>
                </c:pt>
                <c:pt idx="14">
                  <c:v>65</c:v>
                </c:pt>
                <c:pt idx="15">
                  <c:v>65</c:v>
                </c:pt>
                <c:pt idx="16">
                  <c:v>65</c:v>
                </c:pt>
                <c:pt idx="17">
                  <c:v>65</c:v>
                </c:pt>
                <c:pt idx="18">
                  <c:v>65</c:v>
                </c:pt>
                <c:pt idx="19">
                  <c:v>65</c:v>
                </c:pt>
                <c:pt idx="20">
                  <c:v>65</c:v>
                </c:pt>
                <c:pt idx="21">
                  <c:v>65</c:v>
                </c:pt>
                <c:pt idx="22">
                  <c:v>65</c:v>
                </c:pt>
                <c:pt idx="23">
                  <c:v>65</c:v>
                </c:pt>
                <c:pt idx="24">
                  <c:v>65</c:v>
                </c:pt>
                <c:pt idx="25">
                  <c:v>65</c:v>
                </c:pt>
                <c:pt idx="26">
                  <c:v>65</c:v>
                </c:pt>
                <c:pt idx="27">
                  <c:v>65</c:v>
                </c:pt>
                <c:pt idx="28">
                  <c:v>65</c:v>
                </c:pt>
                <c:pt idx="29">
                  <c:v>65</c:v>
                </c:pt>
                <c:pt idx="30">
                  <c:v>65</c:v>
                </c:pt>
                <c:pt idx="31">
                  <c:v>65</c:v>
                </c:pt>
                <c:pt idx="32">
                  <c:v>65</c:v>
                </c:pt>
                <c:pt idx="33">
                  <c:v>65</c:v>
                </c:pt>
                <c:pt idx="34">
                  <c:v>65</c:v>
                </c:pt>
                <c:pt idx="35">
                  <c:v>65</c:v>
                </c:pt>
                <c:pt idx="36">
                  <c:v>65</c:v>
                </c:pt>
                <c:pt idx="37">
                  <c:v>65</c:v>
                </c:pt>
                <c:pt idx="38">
                  <c:v>65</c:v>
                </c:pt>
                <c:pt idx="39">
                  <c:v>65</c:v>
                </c:pt>
                <c:pt idx="40">
                  <c:v>65</c:v>
                </c:pt>
                <c:pt idx="41">
                  <c:v>65</c:v>
                </c:pt>
                <c:pt idx="42">
                  <c:v>65</c:v>
                </c:pt>
                <c:pt idx="43">
                  <c:v>65</c:v>
                </c:pt>
                <c:pt idx="44">
                  <c:v>65</c:v>
                </c:pt>
                <c:pt idx="45">
                  <c:v>65</c:v>
                </c:pt>
                <c:pt idx="46">
                  <c:v>65</c:v>
                </c:pt>
                <c:pt idx="47">
                  <c:v>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68"/>
          <c:min val="52"/>
        </c:scaling>
        <c:delete val="0"/>
        <c:axPos val="l"/>
        <c:majorGridlines>
          <c:spPr>
            <a:ln w="9525" cap="flat">
              <a:solidFill>
                <a:srgbClr val="E3EAE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C6B6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66"/>
                </a:solidFill>
                <a:latin typeface="+mn-lt"/>
              </a:rPr>
              <a:t>Percentage points above / below the 65% target, Dec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 vs 65% target</c:v>
                </c:pt>
              </c:strCache>
            </c:strRef>
          </c:tx>
          <c:spPr>
            <a:solidFill>
              <a:srgbClr val="C2452D"/>
            </a:solidFill>
            <a:effectLst/>
          </c:spPr>
          <c:invertIfNegative val="0"/>
          <c:dLbls>
            <c:numFmt formatCode="+0.0;-0.0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Najran</c:v>
                  </c:pt>
                  <c:pt idx="1">
                    <c:v>Northern Borders</c:v>
                  </c:pt>
                  <c:pt idx="2">
                    <c:v>Al-Baha</c:v>
                  </c:pt>
                  <c:pt idx="3">
                    <c:v>Jazan</c:v>
                  </c:pt>
                  <c:pt idx="4">
                    <c:v>Asir</c:v>
                  </c:pt>
                  <c:pt idx="5">
                    <c:v>Tabuk</c:v>
                  </c:pt>
                  <c:pt idx="6">
                    <c:v>Hail</c:v>
                  </c:pt>
                  <c:pt idx="7">
                    <c:v>Al-Jouf</c:v>
                  </c:pt>
                  <c:pt idx="8">
                    <c:v>Qassim</c:v>
                  </c:pt>
                  <c:pt idx="9">
                    <c:v>Madinah</c:v>
                  </c:pt>
                  <c:pt idx="10">
                    <c:v>Eastern Province</c:v>
                  </c:pt>
                  <c:pt idx="11">
                    <c:v>Makkah</c:v>
                  </c:pt>
                  <c:pt idx="12">
                    <c:v>Riyadh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-4.1</c:v>
                </c:pt>
                <c:pt idx="1">
                  <c:v>-2.3</c:v>
                </c:pt>
                <c:pt idx="2">
                  <c:v>-2.2</c:v>
                </c:pt>
                <c:pt idx="3">
                  <c:v>-2</c:v>
                </c:pt>
                <c:pt idx="4">
                  <c:v>-0.6</c:v>
                </c:pt>
                <c:pt idx="5">
                  <c:v>-0.5</c:v>
                </c:pt>
                <c:pt idx="6">
                  <c:v>-0.3</c:v>
                </c:pt>
                <c:pt idx="7">
                  <c:v>-0.2</c:v>
                </c:pt>
                <c:pt idx="8">
                  <c:v>1.1</c:v>
                </c:pt>
                <c:pt idx="9">
                  <c:v>3.2</c:v>
                </c:pt>
                <c:pt idx="10">
                  <c:v>3.7</c:v>
                </c:pt>
                <c:pt idx="11">
                  <c:v>5.7</c:v>
                </c:pt>
                <c:pt idx="12">
                  <c:v>5.8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b="0" i="0" strike="noStrike" sz="12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-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66"/>
                </a:solidFill>
                <a:latin typeface="+mn-lt"/>
              </a:rPr>
              <a:t>Months until each below-target region reaches 65% at its 2022–25 pace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Months to reach 65%</c:v>
                </c:pt>
              </c:strCache>
            </c:strRef>
          </c:tx>
          <c:spPr>
            <a:solidFill>
              <a:srgbClr val="C2452D"/>
            </a:solidFill>
            <a:effectLst/>
          </c:spPr>
          <c:invertIfNegative val="0"/>
          <c:dLbls>
            <c:numFmt formatCode="0.0&quot; mo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45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F8F8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Najran</c:v>
                  </c:pt>
                  <c:pt idx="1">
                    <c:v>Al-Baha</c:v>
                  </c:pt>
                  <c:pt idx="2">
                    <c:v>Northern Borders</c:v>
                  </c:pt>
                  <c:pt idx="3">
                    <c:v>Jazan</c:v>
                  </c:pt>
                  <c:pt idx="4">
                    <c:v>Asir</c:v>
                  </c:pt>
                  <c:pt idx="5">
                    <c:v>Tabuk</c:v>
                  </c:pt>
                  <c:pt idx="6">
                    <c:v>Hail</c:v>
                  </c:pt>
                  <c:pt idx="7">
                    <c:v>Al-Jouf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19.2</c:v>
                </c:pt>
                <c:pt idx="1">
                  <c:v>9.9</c:v>
                </c:pt>
                <c:pt idx="2">
                  <c:v>9.7</c:v>
                </c:pt>
                <c:pt idx="3">
                  <c:v>8.3</c:v>
                </c:pt>
                <c:pt idx="4">
                  <c:v>2.9</c:v>
                </c:pt>
                <c:pt idx="5">
                  <c:v>2.2</c:v>
                </c:pt>
                <c:pt idx="6">
                  <c:v>1</c:v>
                </c:pt>
                <c:pt idx="7">
                  <c:v>0.7</c:v>
                </c:pt>
              </c:numCache>
            </c:numRef>
          </c:val>
        </c:ser>
        <c:dLbls>
          <c:numFmt formatCode="0.0&quot; mo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6B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C6B66"/>
                </a:solidFill>
                <a:latin typeface="+mn-lt"/>
              </a:rPr>
              <a:t>Proposed allocation of the SAR 40M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 (SAR M)</c:v>
                </c:pt>
              </c:strCache>
            </c:strRef>
          </c:tx>
          <c:spPr>
            <a:solidFill>
              <a:srgbClr val="1B7F5B"/>
            </a:solidFill>
            <a:effectLst/>
          </c:spPr>
          <c:invertIfNegative val="0"/>
          <c:dLbls>
            <c:numFmt formatCode="&quot;SAR &quot;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Najran</c:v>
                  </c:pt>
                  <c:pt idx="1">
                    <c:v>Northern Borders</c:v>
                  </c:pt>
                  <c:pt idx="2">
                    <c:v>Al-Baha</c:v>
                  </c:pt>
                  <c:pt idx="3">
                    <c:v>Jazan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</c:ser>
        <c:dLbls>
          <c:numFmt formatCode="&quot;SAR &quot;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Student 1   ·   TIME: 0:00–0:30
[Say the ask in the first 30 seconds]
"Our recommendation: direct the next SAR 40 million to four regions — Najran, Northern Borders, Al-Baha and Jazan. Tayseer is already above the 65% target nationally, but these four are 2 to 4 points behind and, at today's pace, won't reach 65% for 8 to 19 months. We are asking you to approve this allocation today, with a 90-day checkpoint."
Hand-off: "Let me show you where we stand nationally."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Student 1   ·   TIME: 0:30–1:15
Orient: "This line is national digital adoption every month since January 2022; the red line is the 65% target."
Point: "Look at the right-hand end."
What: "We crossed 65% in August 2025 and reached 66.2% in December — about 3 points of growth every year."
So what: "Nationally, we are on track. But the national average hides a regional split."
Hand-off to Student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Student 2   ·   TIME: 1:15–2:00
Orient: "Each bar is a region; zero is the 65% target. Red bars are below target, grey bars are above."
Point: "Focus on the red bars at the top."
What: "Eight of thirteen regions are still below 65%. And the spread between the best and worst region has grown from 7.5 to almost 10 points since 2022."
So what: "The national number is good, but the gap is regional and it's getting wider. Not all eight red bars are the same problem, though."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Student 2   ·   TIME: 2:00–4:00
Orient: "This chart shows how many months each below-target region needs to reach 65% if it keeps its current pace."
Point: "Look at the four red bars."
What: "Najran needs about 19 months; Al-Baha, Northern Borders and Jazan need 8 to 10. The four grey regions — Asir, Tabuk, Hail, Al-Jouf — will cross within one quarter on their own."
Three beats (right):
 1) The gap is 2 to 4 points in the red four vs under 1 point in the grey four.
 2) 84% of the users who still need to switch to digital are in these four regions.
 3) Adoption is lower in every channel — even the Mobile App — so this is about uptake and support, not access.
So what: "If we want every region at 65%, these four are where the money changes the outcome."
Hand-off to Student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Student 3   ·   TIME: 4:00–5:00
"We looked at three realistic ways to use the SAR 40 million."
A — Spread evenly: simple, but half the money goes to regions that will reach 65% within a quarter anyway, and Najran — the furthest behind — gets only one eighth.
B — Concentrate on the four deep-gap regions, weighted by how many users still need to switch: every riyal goes where the gap won't close by itself.
C — National app/portal upgrade: helps everyone, but the national target is already met and the leaders would gain most, so the regional gap would likely widen.
"Option B is the only one that targets the problem we just saw."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Student 3   ·   TIME: 5:00–6:15
"We recommend Option B."
Orient: "The bars show how the SAR 40 million would be split."
What: "Najran gets 15 million because it has the largest gap and the most users still to convert; Northern Borders 9, Al-Baha and Jazan 8 each."
Expected effect: all 13 regions at or above 65% — the funded four by month 6 as our target, the near-target four on current pace within about a quarter. National adoption gains about 0.6 points from these four alone, and every transaction moved from branch to app saves roughly 9 riyals.
Uncertainty (say it honestly): the month-6 target needs Najran to roughly triple its monthly gain and the others to about 1.5x — that's why we propose a 90-day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Student 3   ·   TIME: 6:15–7:00
[Restate the ask at the close]
"So our ask is simple: approve SAR 40 million for Najran, Northern Borders, Al-Baha and Jazan today.
Within 30 days regional teams launch onboarding and awareness work.
At day 90 we come back with the dashboard: each region must be gaining at least 0.35 points a month — Najran 0.7.
By month 6 all four should be at 65%, and any region off pace has its funds moved.
Approve the allocation and the 90-day checkpoint — that's the decision we need today."
Then: "We're happy to take questions — the live Power BI dashboard is ready."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in Q&amp;A. Switch to the live Power BI report to filter by region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in Q&amp;A, especially for 'your data is wrong' questions: separate the number from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→ answer → bridge back to the Big Idea: four regions, SAR 40M, 90-day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6"/>
                </a:solidFill>
              </a:rPr>
              <a:t>Tayseer Digital Adoption  ·  SDA-DSC-112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C3"/>
                </a:solidFill>
              </a:rPr>
              <a:t>Tayseer Digital Adoption  ·  SDA-DSC-112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B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1 · BLUF  /  THE ASK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the SAR 40M to four lagging regions to bring every region to the 65% target</a:t>
            </a:r>
            <a:endParaRPr lang="en-US" sz="3200" dirty="0"/>
          </a:p>
        </p:txBody>
      </p:sp>
      <p:sp>
        <p:nvSpPr>
          <p:cNvPr id="4" name="Arc dot 1"/>
          <p:cNvSpPr/>
          <p:nvPr/>
        </p:nvSpPr>
        <p:spPr>
          <a:xfrm>
            <a:off x="9960559" y="457200"/>
            <a:ext cx="146304" cy="146304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" name="Arc dot 2"/>
          <p:cNvSpPr/>
          <p:nvPr/>
        </p:nvSpPr>
        <p:spPr>
          <a:xfrm>
            <a:off x="10216591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6" name="Arc dot 3"/>
          <p:cNvSpPr/>
          <p:nvPr/>
        </p:nvSpPr>
        <p:spPr>
          <a:xfrm>
            <a:off x="10472623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7" name="Arc dot 4"/>
          <p:cNvSpPr/>
          <p:nvPr/>
        </p:nvSpPr>
        <p:spPr>
          <a:xfrm>
            <a:off x="10728655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8" name="Arc dot 5"/>
          <p:cNvSpPr/>
          <p:nvPr/>
        </p:nvSpPr>
        <p:spPr>
          <a:xfrm>
            <a:off x="10984687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9" name="Arc dot 6"/>
          <p:cNvSpPr/>
          <p:nvPr/>
        </p:nvSpPr>
        <p:spPr>
          <a:xfrm>
            <a:off x="11240719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10" name="Arc dot 7"/>
          <p:cNvSpPr/>
          <p:nvPr/>
        </p:nvSpPr>
        <p:spPr>
          <a:xfrm>
            <a:off x="11496751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11" name="Big idea"/>
          <p:cNvSpPr txBox="1"/>
          <p:nvPr/>
        </p:nvSpPr>
        <p:spPr>
          <a:xfrm>
            <a:off x="548640" y="21031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Big Idea  </a:t>
            </a:r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Tayseer is above 65% nationally, but four regions sit 2–4 points below target and will not get there for 8–19 months on their own. Concentrating the SAR 40M on them closes the gap.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Decision requested today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Approve the SAR 40M allocation below and a 90-day checkpoint on the Power BI dashboard.</a:t>
            </a:r>
            <a:endParaRPr lang="en-US" sz="1600" dirty="0"/>
          </a:p>
        </p:txBody>
      </p:sp>
      <p:sp>
        <p:nvSpPr>
          <p:cNvPr id="14" name="Allocation card Najran"/>
          <p:cNvSpPr/>
          <p:nvPr/>
        </p:nvSpPr>
        <p:spPr>
          <a:xfrm>
            <a:off x="6309360" y="21031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174A3A"/>
          </a:solidFill>
          <a:ln w="9525">
            <a:solidFill>
              <a:srgbClr val="2C5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286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Najran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51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</a:t>
            </a:r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364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C3"/>
                </a:solidFill>
              </a:rPr>
              <a:t>Adoption today: 60.9%</a:t>
            </a:r>
            <a:endParaRPr lang="en-US" sz="1200" dirty="0"/>
          </a:p>
        </p:txBody>
      </p:sp>
      <p:sp>
        <p:nvSpPr>
          <p:cNvPr id="18" name="Allocation card Northern Borders"/>
          <p:cNvSpPr/>
          <p:nvPr/>
        </p:nvSpPr>
        <p:spPr>
          <a:xfrm>
            <a:off x="9098280" y="21031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174A3A"/>
          </a:solidFill>
          <a:ln w="9525">
            <a:solidFill>
              <a:srgbClr val="2C5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22860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Northern Borders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651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</a:t>
            </a:r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9M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364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C3"/>
                </a:solidFill>
              </a:rPr>
              <a:t>Adoption today: 62.7%</a:t>
            </a:r>
            <a:endParaRPr lang="en-US" sz="1200" dirty="0"/>
          </a:p>
        </p:txBody>
      </p:sp>
      <p:sp>
        <p:nvSpPr>
          <p:cNvPr id="22" name="Allocation card Al-Baha"/>
          <p:cNvSpPr/>
          <p:nvPr/>
        </p:nvSpPr>
        <p:spPr>
          <a:xfrm>
            <a:off x="6309360" y="40690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174A3A"/>
          </a:solidFill>
          <a:ln w="9525">
            <a:solidFill>
              <a:srgbClr val="2C5A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4251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Al-Baha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617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</a:t>
            </a:r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8M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330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C3"/>
                </a:solidFill>
              </a:rPr>
              <a:t>Adoption today: 62.8%</a:t>
            </a:r>
            <a:endParaRPr lang="en-US" sz="1200" dirty="0"/>
          </a:p>
        </p:txBody>
      </p:sp>
      <p:sp>
        <p:nvSpPr>
          <p:cNvPr id="26" name="Allocation card Jazan"/>
          <p:cNvSpPr/>
          <p:nvPr/>
        </p:nvSpPr>
        <p:spPr>
          <a:xfrm>
            <a:off x="9098280" y="406908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174A3A"/>
          </a:solidFill>
          <a:ln w="9525">
            <a:solidFill>
              <a:srgbClr val="2C5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26880" y="42519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Jazan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4617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</a:t>
            </a:r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8M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5330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C3"/>
                </a:solidFill>
              </a:rPr>
              <a:t>Adoption today: 63.0%</a:t>
            </a:r>
            <a:endParaRPr lang="en-US" sz="1200" dirty="0"/>
          </a:p>
        </p:txBody>
      </p:sp>
      <p:sp>
        <p:nvSpPr>
          <p:cNvPr id="30" name="Source note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CBC3"/>
                </a:solidFill>
              </a:rPr>
              <a:t>Digital adoption, December 2025 (latest month). Source: Tayseer services dataset, Jan 2022–Dec 2025; Power BI dashboard.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B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2 · SITUATION  —  NATIONAL STATUS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Nationally, Tayseer is on track: adoption crossed 65% in August 2025 and reached 66.2%</a:t>
            </a:r>
            <a:endParaRPr lang="en-US" sz="2800" dirty="0"/>
          </a:p>
        </p:txBody>
      </p:sp>
      <p:sp>
        <p:nvSpPr>
          <p:cNvPr id="4" name="Arc dot 1"/>
          <p:cNvSpPr/>
          <p:nvPr/>
        </p:nvSpPr>
        <p:spPr>
          <a:xfrm>
            <a:off x="996055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5" name="Arc dot 2"/>
          <p:cNvSpPr/>
          <p:nvPr/>
        </p:nvSpPr>
        <p:spPr>
          <a:xfrm>
            <a:off x="10216591" y="457200"/>
            <a:ext cx="146304" cy="14630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Arc dot 3"/>
          <p:cNvSpPr/>
          <p:nvPr/>
        </p:nvSpPr>
        <p:spPr>
          <a:xfrm>
            <a:off x="10472623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7" name="Arc dot 4"/>
          <p:cNvSpPr/>
          <p:nvPr/>
        </p:nvSpPr>
        <p:spPr>
          <a:xfrm>
            <a:off x="10728655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8" name="Arc dot 5"/>
          <p:cNvSpPr/>
          <p:nvPr/>
        </p:nvSpPr>
        <p:spPr>
          <a:xfrm>
            <a:off x="10984687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9" name="Arc dot 6"/>
          <p:cNvSpPr/>
          <p:nvPr/>
        </p:nvSpPr>
        <p:spPr>
          <a:xfrm>
            <a:off x="1124071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10" name="Arc dot 7"/>
          <p:cNvSpPr/>
          <p:nvPr/>
        </p:nvSpPr>
        <p:spPr>
          <a:xfrm>
            <a:off x="1149675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graphicFrame>
        <p:nvGraphicFramePr>
          <p:cNvPr id="11" name="National trend chart" descr=""/>
          <p:cNvGraphicFramePr/>
          <p:nvPr/>
        </p:nvGraphicFramePr>
        <p:xfrm>
          <a:off x="548640" y="187452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Latest value note"/>
          <p:cNvSpPr txBox="1"/>
          <p:nvPr/>
        </p:nvSpPr>
        <p:spPr>
          <a:xfrm>
            <a:off x="59893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66.2% in Dec 2025</a:t>
            </a:r>
            <a:endParaRPr lang="en-US" sz="1200" dirty="0"/>
          </a:p>
        </p:txBody>
      </p:sp>
      <p:sp>
        <p:nvSpPr>
          <p:cNvPr id="13" name="Stat panel"/>
          <p:cNvSpPr/>
          <p:nvPr/>
        </p:nvSpPr>
        <p:spPr>
          <a:xfrm>
            <a:off x="8366760" y="1874520"/>
            <a:ext cx="3273552" cy="4114800"/>
          </a:xfrm>
          <a:prstGeom prst="roundRect">
            <a:avLst>
              <a:gd name="adj" fmla="val 22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tat value"/>
          <p:cNvSpPr txBox="1"/>
          <p:nvPr/>
        </p:nvSpPr>
        <p:spPr>
          <a:xfrm>
            <a:off x="864108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66.2%</a:t>
            </a:r>
            <a:endParaRPr lang="en-US" sz="4400" dirty="0"/>
          </a:p>
        </p:txBody>
      </p:sp>
      <p:sp>
        <p:nvSpPr>
          <p:cNvPr id="15" name="Stat label"/>
          <p:cNvSpPr txBox="1"/>
          <p:nvPr/>
        </p:nvSpPr>
        <p:spPr>
          <a:xfrm>
            <a:off x="864108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National digital adoption, December 2025</a:t>
            </a:r>
            <a:endParaRPr lang="en-US" sz="1400" dirty="0"/>
          </a:p>
        </p:txBody>
      </p:sp>
      <p:sp>
        <p:nvSpPr>
          <p:cNvPr id="16" name="Stat value"/>
          <p:cNvSpPr txBox="1"/>
          <p:nvPr/>
        </p:nvSpPr>
        <p:spPr>
          <a:xfrm>
            <a:off x="864108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+12.1 pts</a:t>
            </a:r>
            <a:endParaRPr lang="en-US" sz="3600" dirty="0"/>
          </a:p>
        </p:txBody>
      </p:sp>
      <p:sp>
        <p:nvSpPr>
          <p:cNvPr id="17" name="Stat label"/>
          <p:cNvSpPr txBox="1"/>
          <p:nvPr/>
        </p:nvSpPr>
        <p:spPr>
          <a:xfrm>
            <a:off x="864108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Gained since January 2022 (54.1%)</a:t>
            </a:r>
            <a:endParaRPr lang="en-US" sz="1400" dirty="0"/>
          </a:p>
        </p:txBody>
      </p:sp>
      <p:sp>
        <p:nvSpPr>
          <p:cNvPr id="18" name="Stat value"/>
          <p:cNvSpPr txBox="1"/>
          <p:nvPr/>
        </p:nvSpPr>
        <p:spPr>
          <a:xfrm>
            <a:off x="8641080" y="4709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pts / yr</a:t>
            </a:r>
            <a:endParaRPr lang="en-US" sz="3000" dirty="0"/>
          </a:p>
        </p:txBody>
      </p:sp>
      <p:sp>
        <p:nvSpPr>
          <p:cNvPr id="19" name="Stat label"/>
          <p:cNvSpPr txBox="1"/>
          <p:nvPr/>
        </p:nvSpPr>
        <p:spPr>
          <a:xfrm>
            <a:off x="8641080" y="5532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Steady yearly gain: 55.4 → 58.5 → 61.7 → 64.8% (annual averages)</a:t>
            </a:r>
            <a:endParaRPr lang="en-US" sz="1400" dirty="0"/>
          </a:p>
        </p:txBody>
      </p:sp>
      <p:sp>
        <p:nvSpPr>
          <p:cNvPr id="20" name="Source note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6"/>
                </a:solidFill>
              </a:rPr>
              <a:t>Digital adoption % = user-weighted average across all regions, services and channels. Source: Tayseer services dataset; Power BI dashboard (KPI + trend).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· COMPLICATION  —  REGIONAL GAP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8 of 13 regions are still below 65%, and the gap between leading and lagging regions is widening</a:t>
            </a:r>
            <a:endParaRPr lang="en-US" sz="2800" dirty="0"/>
          </a:p>
        </p:txBody>
      </p:sp>
      <p:sp>
        <p:nvSpPr>
          <p:cNvPr id="4" name="Arc dot 1"/>
          <p:cNvSpPr/>
          <p:nvPr/>
        </p:nvSpPr>
        <p:spPr>
          <a:xfrm>
            <a:off x="996055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5" name="Arc dot 2"/>
          <p:cNvSpPr/>
          <p:nvPr/>
        </p:nvSpPr>
        <p:spPr>
          <a:xfrm>
            <a:off x="1021659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6" name="Arc dot 3"/>
          <p:cNvSpPr/>
          <p:nvPr/>
        </p:nvSpPr>
        <p:spPr>
          <a:xfrm>
            <a:off x="10472623" y="457200"/>
            <a:ext cx="146304" cy="14630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Arc dot 4"/>
          <p:cNvSpPr/>
          <p:nvPr/>
        </p:nvSpPr>
        <p:spPr>
          <a:xfrm>
            <a:off x="10728655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8" name="Arc dot 5"/>
          <p:cNvSpPr/>
          <p:nvPr/>
        </p:nvSpPr>
        <p:spPr>
          <a:xfrm>
            <a:off x="10984687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9" name="Arc dot 6"/>
          <p:cNvSpPr/>
          <p:nvPr/>
        </p:nvSpPr>
        <p:spPr>
          <a:xfrm>
            <a:off x="1124071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10" name="Arc dot 7"/>
          <p:cNvSpPr/>
          <p:nvPr/>
        </p:nvSpPr>
        <p:spPr>
          <a:xfrm>
            <a:off x="1149675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graphicFrame>
        <p:nvGraphicFramePr>
          <p:cNvPr id="11" name="Regional gap chart" descr=""/>
          <p:cNvGraphicFramePr/>
          <p:nvPr/>
        </p:nvGraphicFramePr>
        <p:xfrm>
          <a:off x="548640" y="187452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Below target callout"/>
          <p:cNvSpPr/>
          <p:nvPr/>
        </p:nvSpPr>
        <p:spPr>
          <a:xfrm>
            <a:off x="8092440" y="1874520"/>
            <a:ext cx="354787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196596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13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regions below 65% in December 2025 (all 13 were below in December 2023)</a:t>
            </a:r>
            <a:endParaRPr lang="en-US" sz="4000" dirty="0"/>
          </a:p>
        </p:txBody>
      </p:sp>
      <p:sp>
        <p:nvSpPr>
          <p:cNvPr id="14" name="Spread callout"/>
          <p:cNvSpPr/>
          <p:nvPr/>
        </p:nvSpPr>
        <p:spPr>
          <a:xfrm>
            <a:off x="8092440" y="4023360"/>
            <a:ext cx="354787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411480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 → 9.9 pts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Gap between best and worst region, Dec 2022 vs Dec 2025: the leaders are pulling away</a:t>
            </a:r>
            <a:endParaRPr lang="en-US" sz="3200" dirty="0"/>
          </a:p>
        </p:txBody>
      </p:sp>
      <p:sp>
        <p:nvSpPr>
          <p:cNvPr id="16" name="Source note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6"/>
                </a:solidFill>
              </a:rPr>
              <a:t>Red = below target; grey = at or above target. Same view as the Power BI “Regional Adoption” bar with the 65% reference line (see appendix).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· EVIDENCE  —  WHERE THE PRIORITY 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regions need 8–19 more months at today's pace; the other four will cross 65% within a quarter</a:t>
            </a:r>
            <a:endParaRPr lang="en-US" sz="2800" dirty="0"/>
          </a:p>
        </p:txBody>
      </p:sp>
      <p:sp>
        <p:nvSpPr>
          <p:cNvPr id="4" name="Arc dot 1"/>
          <p:cNvSpPr/>
          <p:nvPr/>
        </p:nvSpPr>
        <p:spPr>
          <a:xfrm>
            <a:off x="996055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5" name="Arc dot 2"/>
          <p:cNvSpPr/>
          <p:nvPr/>
        </p:nvSpPr>
        <p:spPr>
          <a:xfrm>
            <a:off x="1021659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6" name="Arc dot 3"/>
          <p:cNvSpPr/>
          <p:nvPr/>
        </p:nvSpPr>
        <p:spPr>
          <a:xfrm>
            <a:off x="10472623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7" name="Arc dot 4"/>
          <p:cNvSpPr/>
          <p:nvPr/>
        </p:nvSpPr>
        <p:spPr>
          <a:xfrm>
            <a:off x="10728655" y="457200"/>
            <a:ext cx="146304" cy="14630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Arc dot 5"/>
          <p:cNvSpPr/>
          <p:nvPr/>
        </p:nvSpPr>
        <p:spPr>
          <a:xfrm>
            <a:off x="10984687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9" name="Arc dot 6"/>
          <p:cNvSpPr/>
          <p:nvPr/>
        </p:nvSpPr>
        <p:spPr>
          <a:xfrm>
            <a:off x="1124071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10" name="Arc dot 7"/>
          <p:cNvSpPr/>
          <p:nvPr/>
        </p:nvSpPr>
        <p:spPr>
          <a:xfrm>
            <a:off x="1149675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graphicFrame>
        <p:nvGraphicFramePr>
          <p:cNvPr id="11" name="Months to target chart" descr=""/>
          <p:cNvGraphicFramePr/>
          <p:nvPr/>
        </p:nvGraphicFramePr>
        <p:xfrm>
          <a:off x="548640" y="1874520"/>
          <a:ext cx="6309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vidence beat 1"/>
          <p:cNvSpPr/>
          <p:nvPr/>
        </p:nvSpPr>
        <p:spPr>
          <a:xfrm>
            <a:off x="7178040" y="1874520"/>
            <a:ext cx="4462272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60920" y="2011680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pts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1965960"/>
            <a:ext cx="2862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Bigger gap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Najran, Northern Borders, Al-Baha and Jazan are 2.0–4.1 pts short; the other four are within 0.7 pts.</a:t>
            </a:r>
            <a:endParaRPr lang="en-US" sz="1500" dirty="0"/>
          </a:p>
        </p:txBody>
      </p:sp>
      <p:sp>
        <p:nvSpPr>
          <p:cNvPr id="15" name="Evidence beat 2"/>
          <p:cNvSpPr/>
          <p:nvPr/>
        </p:nvSpPr>
        <p:spPr>
          <a:xfrm>
            <a:off x="7178040" y="3300984"/>
            <a:ext cx="4462272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60920" y="3438144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641080" y="3392424"/>
            <a:ext cx="2862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Most users to convert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≈784 users a month must switch to digital in these four — 84% of the total gap to 65% across all eight regions.</a:t>
            </a:r>
            <a:endParaRPr lang="en-US" sz="1500" dirty="0"/>
          </a:p>
        </p:txBody>
      </p:sp>
      <p:sp>
        <p:nvSpPr>
          <p:cNvPr id="18" name="Evidence beat 3"/>
          <p:cNvSpPr/>
          <p:nvPr/>
        </p:nvSpPr>
        <p:spPr>
          <a:xfrm>
            <a:off x="7178040" y="4727448"/>
            <a:ext cx="4462272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60920" y="4864608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 pts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641080" y="4818888"/>
            <a:ext cx="2862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Lower adoption in every channel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Even on the Mobile App, adoption is 70% here vs 76% in leading regions; branch 48% vs 54%. Access isn't the issue — uptake is.</a:t>
            </a:r>
            <a:endParaRPr lang="en-US" sz="1500" dirty="0"/>
          </a:p>
        </p:txBody>
      </p:sp>
      <p:sp>
        <p:nvSpPr>
          <p:cNvPr id="21" name="Source note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6"/>
                </a:solidFill>
              </a:rPr>
              <a:t>Pace = average monthly gain Jan 2022–Dec 2025 per region. Users to convert = (65% − adoption) × monthly unique users, Dec 2025. Channel figures are 2025 averages.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· OPTIONS  —  USING THE SAR 40M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three realistic options, only one targets the regions that won't close the gap on their own</a:t>
            </a:r>
            <a:endParaRPr lang="en-US" sz="2800" dirty="0"/>
          </a:p>
        </p:txBody>
      </p:sp>
      <p:sp>
        <p:nvSpPr>
          <p:cNvPr id="4" name="Arc dot 1"/>
          <p:cNvSpPr/>
          <p:nvPr/>
        </p:nvSpPr>
        <p:spPr>
          <a:xfrm>
            <a:off x="996055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5" name="Arc dot 2"/>
          <p:cNvSpPr/>
          <p:nvPr/>
        </p:nvSpPr>
        <p:spPr>
          <a:xfrm>
            <a:off x="1021659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6" name="Arc dot 3"/>
          <p:cNvSpPr/>
          <p:nvPr/>
        </p:nvSpPr>
        <p:spPr>
          <a:xfrm>
            <a:off x="10472623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7" name="Arc dot 4"/>
          <p:cNvSpPr/>
          <p:nvPr/>
        </p:nvSpPr>
        <p:spPr>
          <a:xfrm>
            <a:off x="10728655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8" name="Arc dot 5"/>
          <p:cNvSpPr/>
          <p:nvPr/>
        </p:nvSpPr>
        <p:spPr>
          <a:xfrm>
            <a:off x="10984687" y="457200"/>
            <a:ext cx="146304" cy="14630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Arc dot 6"/>
          <p:cNvSpPr/>
          <p:nvPr/>
        </p:nvSpPr>
        <p:spPr>
          <a:xfrm>
            <a:off x="1124071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10" name="Arc dot 7"/>
          <p:cNvSpPr/>
          <p:nvPr/>
        </p:nvSpPr>
        <p:spPr>
          <a:xfrm>
            <a:off x="1149675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11" name="Option A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EEF4F1"/>
            </a:solidFill>
            <a:prstDash val="solid"/>
          </a:ln>
        </p:spPr>
      </p:sp>
      <p:sp>
        <p:nvSpPr>
          <p:cNvPr id="12" name="Option A badge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Spread evenly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SAR 5M to each of the 8 below-target regions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6118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Simple; every lagging region gets support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–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Half the budget goes to 4 regions that will cross 65% within a quarter anyway; Najran gets only 1/8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94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</a:rPr>
              <a:t>Closes the regional gap:  </a:t>
            </a:r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Partial</a:t>
            </a:r>
            <a:endParaRPr lang="en-US" sz="1400" dirty="0"/>
          </a:p>
        </p:txBody>
      </p:sp>
      <p:sp>
        <p:nvSpPr>
          <p:cNvPr id="18" name="Option B"/>
          <p:cNvSpPr/>
          <p:nvPr/>
        </p:nvSpPr>
        <p:spPr>
          <a:xfrm>
            <a:off x="4343400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E3F1EA"/>
          </a:solidFill>
          <a:ln w="25400">
            <a:solidFill>
              <a:srgbClr val="1B7F5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Option B badge"/>
          <p:cNvSpPr/>
          <p:nvPr/>
        </p:nvSpPr>
        <p:spPr>
          <a:xfrm>
            <a:off x="4572000" y="2148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Concentrate on 4 regions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SAR 40M to the deep-gap four, split by users still to convert (15 / 9 / 8 / 8M)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6118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All money goes where the gap won't close by itself; Najran gets the largest share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–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Near-target regions get monitoring, not new funding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394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</a:rPr>
              <a:t>Closes the regional gap: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Strong</a:t>
            </a:r>
            <a:endParaRPr lang="en-US" sz="1400" dirty="0"/>
          </a:p>
        </p:txBody>
      </p:sp>
      <p:sp>
        <p:nvSpPr>
          <p:cNvPr id="25" name="Option C"/>
          <p:cNvSpPr/>
          <p:nvPr/>
        </p:nvSpPr>
        <p:spPr>
          <a:xfrm>
            <a:off x="8138160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rgbClr val="EEF4F1"/>
            </a:solidFill>
            <a:prstDash val="solid"/>
          </a:ln>
        </p:spPr>
      </p:sp>
      <p:sp>
        <p:nvSpPr>
          <p:cNvPr id="26" name="Option C badge"/>
          <p:cNvSpPr/>
          <p:nvPr/>
        </p:nvSpPr>
        <p:spPr>
          <a:xfrm>
            <a:off x="8366760" y="21488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National channel upgrade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Improve the app and portal for all 13 regions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36118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+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Benefits every user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–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National target is already met; leading regions gain most, so the regional gap likely widens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5394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6"/>
                </a:solidFill>
              </a:rPr>
              <a:t>Closes the regional gap: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Weak</a:t>
            </a:r>
            <a:endParaRPr lang="en-US" sz="1400" dirty="0"/>
          </a:p>
        </p:txBody>
      </p:sp>
      <p:sp>
        <p:nvSpPr>
          <p:cNvPr id="32" name="Source note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6"/>
                </a:solidFill>
              </a:rPr>
              <a:t>Allocation in Option B is proportional to users still to convert to reach 65% (Dec 2025): Najran 37%, Northern Borders 23%, Al-Baha 20%, Jazan 20%.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6 · RECOMMENDATION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Option B: weight the SAR 40M to the four regions with the largest gap</a:t>
            </a:r>
            <a:endParaRPr lang="en-US" sz="2800" dirty="0"/>
          </a:p>
        </p:txBody>
      </p:sp>
      <p:sp>
        <p:nvSpPr>
          <p:cNvPr id="4" name="Arc dot 1"/>
          <p:cNvSpPr/>
          <p:nvPr/>
        </p:nvSpPr>
        <p:spPr>
          <a:xfrm>
            <a:off x="9960559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5" name="Arc dot 2"/>
          <p:cNvSpPr/>
          <p:nvPr/>
        </p:nvSpPr>
        <p:spPr>
          <a:xfrm>
            <a:off x="1021659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6" name="Arc dot 3"/>
          <p:cNvSpPr/>
          <p:nvPr/>
        </p:nvSpPr>
        <p:spPr>
          <a:xfrm>
            <a:off x="10472623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7" name="Arc dot 4"/>
          <p:cNvSpPr/>
          <p:nvPr/>
        </p:nvSpPr>
        <p:spPr>
          <a:xfrm>
            <a:off x="10728655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8" name="Arc dot 5"/>
          <p:cNvSpPr/>
          <p:nvPr/>
        </p:nvSpPr>
        <p:spPr>
          <a:xfrm>
            <a:off x="10984687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sp>
        <p:nvSpPr>
          <p:cNvPr id="9" name="Arc dot 6"/>
          <p:cNvSpPr/>
          <p:nvPr/>
        </p:nvSpPr>
        <p:spPr>
          <a:xfrm>
            <a:off x="11240719" y="457200"/>
            <a:ext cx="146304" cy="14630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Arc dot 7"/>
          <p:cNvSpPr/>
          <p:nvPr/>
        </p:nvSpPr>
        <p:spPr>
          <a:xfrm>
            <a:off x="11496751" y="457200"/>
            <a:ext cx="146304" cy="146304"/>
          </a:xfrm>
          <a:prstGeom prst="ellipse">
            <a:avLst/>
          </a:prstGeom>
          <a:solidFill>
            <a:srgbClr val="D5E3DC"/>
          </a:solidFill>
          <a:ln w="6350">
            <a:solidFill>
              <a:srgbClr val="D5E3DC"/>
            </a:solidFill>
            <a:prstDash val="solid"/>
          </a:ln>
        </p:spPr>
      </p:sp>
      <p:graphicFrame>
        <p:nvGraphicFramePr>
          <p:cNvPr id="11" name="Allocation chart" descr=""/>
          <p:cNvGraphicFramePr/>
          <p:nvPr/>
        </p:nvGraphicFramePr>
        <p:xfrm>
          <a:off x="548640" y="1874520"/>
          <a:ext cx="51206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080760" y="1874520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Expected effect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233172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regions at or above 65%: the four funded regions by month 6 (target), the four near-target regions on their current pace within ~3 months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 pts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20040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national adoption from these four regions alone reaching 65% (66.2% → ~66.8%)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4069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SAR 9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4069080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saved per transaction moved from branch (SAR 24.1) to mobile app (SAR 15.0)</a:t>
            </a:r>
            <a:endParaRPr lang="en-US" sz="1400" dirty="0"/>
          </a:p>
        </p:txBody>
      </p:sp>
      <p:sp>
        <p:nvSpPr>
          <p:cNvPr id="19" name="Levers card"/>
          <p:cNvSpPr/>
          <p:nvPr/>
        </p:nvSpPr>
        <p:spPr>
          <a:xfrm>
            <a:off x="6080760" y="4983480"/>
            <a:ext cx="555955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3640" y="50292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Proposed levers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assisted-digital onboarding in branches and call centres (lowest-adoption channels), local awareness campaigns, and kiosk-to-app hand-off.</a:t>
            </a:r>
            <a:endParaRPr lang="en-US" sz="1300" dirty="0"/>
          </a:p>
        </p:txBody>
      </p:sp>
      <p:sp>
        <p:nvSpPr>
          <p:cNvPr id="21" name="Source note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6"/>
                </a:solidFill>
              </a:rPr>
              <a:t>Month-6 target requires +0.7 pts/month in Najran and ~+0.35 pts/month in the other three (vs ~0.23 today). Cost per transaction: 2025 national channel averages.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7 · THE ASK  +  NEXT STEP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SAR 40M for Najran, Northern Borders, Al-Baha and Jazan today, with a 90-day checkpoint</a:t>
            </a:r>
            <a:endParaRPr lang="en-US" sz="3200" dirty="0"/>
          </a:p>
        </p:txBody>
      </p:sp>
      <p:sp>
        <p:nvSpPr>
          <p:cNvPr id="4" name="Arc dot 1"/>
          <p:cNvSpPr/>
          <p:nvPr/>
        </p:nvSpPr>
        <p:spPr>
          <a:xfrm>
            <a:off x="9960559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5" name="Arc dot 2"/>
          <p:cNvSpPr/>
          <p:nvPr/>
        </p:nvSpPr>
        <p:spPr>
          <a:xfrm>
            <a:off x="10216591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6" name="Arc dot 3"/>
          <p:cNvSpPr/>
          <p:nvPr/>
        </p:nvSpPr>
        <p:spPr>
          <a:xfrm>
            <a:off x="10472623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7" name="Arc dot 4"/>
          <p:cNvSpPr/>
          <p:nvPr/>
        </p:nvSpPr>
        <p:spPr>
          <a:xfrm>
            <a:off x="10728655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8" name="Arc dot 5"/>
          <p:cNvSpPr/>
          <p:nvPr/>
        </p:nvSpPr>
        <p:spPr>
          <a:xfrm>
            <a:off x="10984687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9" name="Arc dot 6"/>
          <p:cNvSpPr/>
          <p:nvPr/>
        </p:nvSpPr>
        <p:spPr>
          <a:xfrm>
            <a:off x="11240719" y="457200"/>
            <a:ext cx="146304" cy="146304"/>
          </a:xfrm>
          <a:prstGeom prst="ellipse">
            <a:avLst/>
          </a:prstGeom>
          <a:solidFill>
            <a:srgbClr val="2C5A4A"/>
          </a:solidFill>
          <a:ln w="6350">
            <a:solidFill>
              <a:srgbClr val="2C5A4A"/>
            </a:solidFill>
            <a:prstDash val="solid"/>
          </a:ln>
        </p:spPr>
      </p:sp>
      <p:sp>
        <p:nvSpPr>
          <p:cNvPr id="10" name="Arc dot 7"/>
          <p:cNvSpPr/>
          <p:nvPr/>
        </p:nvSpPr>
        <p:spPr>
          <a:xfrm>
            <a:off x="11496751" y="457200"/>
            <a:ext cx="146304" cy="146304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1" name="Step 1"/>
          <p:cNvSpPr/>
          <p:nvPr/>
        </p:nvSpPr>
        <p:spPr>
          <a:xfrm>
            <a:off x="548640" y="2240280"/>
            <a:ext cx="2578608" cy="2743200"/>
          </a:xfrm>
          <a:prstGeom prst="roundRect">
            <a:avLst>
              <a:gd name="adj" fmla="val 2837"/>
            </a:avLst>
          </a:prstGeom>
          <a:solidFill>
            <a:srgbClr val="1E5A45"/>
          </a:solidFill>
          <a:ln w="19050">
            <a:solidFill>
              <a:srgbClr val="C896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4688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TODAY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7889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8328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8E2"/>
                </a:solidFill>
              </a:rPr>
              <a:t>Najran SAR 15M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8E2"/>
                </a:solidFill>
              </a:rPr>
              <a:t>Northern Borders 9M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8E2"/>
                </a:solidFill>
              </a:rPr>
              <a:t>Al-Baha 8M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8E2"/>
                </a:solidFill>
              </a:rPr>
              <a:t>Jazan 8M</a:t>
            </a:r>
            <a:endParaRPr lang="en-US" sz="1400" dirty="0"/>
          </a:p>
        </p:txBody>
      </p:sp>
      <p:sp>
        <p:nvSpPr>
          <p:cNvPr id="15" name="Step arrow 1"/>
          <p:cNvSpPr/>
          <p:nvPr/>
        </p:nvSpPr>
        <p:spPr>
          <a:xfrm>
            <a:off x="3191256" y="3474720"/>
            <a:ext cx="118872" cy="27432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tep 2"/>
          <p:cNvSpPr/>
          <p:nvPr/>
        </p:nvSpPr>
        <p:spPr>
          <a:xfrm>
            <a:off x="3374136" y="2240280"/>
            <a:ext cx="2578608" cy="2743200"/>
          </a:xfrm>
          <a:prstGeom prst="roundRect">
            <a:avLst>
              <a:gd name="adj" fmla="val 2837"/>
            </a:avLst>
          </a:prstGeom>
          <a:solidFill>
            <a:srgbClr val="174A3A"/>
          </a:solidFill>
          <a:ln w="9525">
            <a:solidFill>
              <a:srgbClr val="2C5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02736" y="24688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02736" y="27889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602736" y="338328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8E2"/>
                </a:solidFill>
              </a:rPr>
              <a:t>Regional teams start assisted-digital onboarding and awareness campaigns</a:t>
            </a:r>
            <a:endParaRPr lang="en-US" sz="1400" dirty="0"/>
          </a:p>
        </p:txBody>
      </p:sp>
      <p:sp>
        <p:nvSpPr>
          <p:cNvPr id="20" name="Step arrow 2"/>
          <p:cNvSpPr/>
          <p:nvPr/>
        </p:nvSpPr>
        <p:spPr>
          <a:xfrm>
            <a:off x="6016752" y="3474720"/>
            <a:ext cx="118872" cy="27432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Step 3"/>
          <p:cNvSpPr/>
          <p:nvPr/>
        </p:nvSpPr>
        <p:spPr>
          <a:xfrm>
            <a:off x="6199632" y="2240280"/>
            <a:ext cx="2578608" cy="2743200"/>
          </a:xfrm>
          <a:prstGeom prst="roundRect">
            <a:avLst>
              <a:gd name="adj" fmla="val 2837"/>
            </a:avLst>
          </a:prstGeom>
          <a:solidFill>
            <a:srgbClr val="174A3A"/>
          </a:solidFill>
          <a:ln w="9525">
            <a:solidFill>
              <a:srgbClr val="2C5A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8232" y="24688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90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27889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338328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8E2"/>
                </a:solidFill>
              </a:rPr>
              <a:t>Each funded region on pace: Najran ≥ +0.7 pts/month, others ≥ +0.35 — tracked on the Power BI dashboard</a:t>
            </a:r>
            <a:endParaRPr lang="en-US" sz="1400" dirty="0"/>
          </a:p>
        </p:txBody>
      </p:sp>
      <p:sp>
        <p:nvSpPr>
          <p:cNvPr id="25" name="Step arrow 3"/>
          <p:cNvSpPr/>
          <p:nvPr/>
        </p:nvSpPr>
        <p:spPr>
          <a:xfrm>
            <a:off x="8842248" y="3474720"/>
            <a:ext cx="118872" cy="27432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Step 4"/>
          <p:cNvSpPr/>
          <p:nvPr/>
        </p:nvSpPr>
        <p:spPr>
          <a:xfrm>
            <a:off x="9025128" y="2240280"/>
            <a:ext cx="2578608" cy="2743200"/>
          </a:xfrm>
          <a:prstGeom prst="roundRect">
            <a:avLst>
              <a:gd name="adj" fmla="val 2837"/>
            </a:avLst>
          </a:prstGeom>
          <a:solidFill>
            <a:srgbClr val="174A3A"/>
          </a:solidFill>
          <a:ln w="9525">
            <a:solidFill>
              <a:srgbClr val="2C5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53728" y="24688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MONTH 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53728" y="278892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253728" y="338328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8E2"/>
                </a:solidFill>
              </a:rPr>
              <a:t>All four at ≥ 65%; move funds from any region that is off pace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406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Decision today: approve the allocation and the day-90 checkpoint.</a:t>
            </a:r>
            <a:endParaRPr lang="en-US" sz="1800" dirty="0"/>
          </a:p>
        </p:txBody>
      </p:sp>
      <p:sp>
        <p:nvSpPr>
          <p:cNvPr id="31" name="Source note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CBC3"/>
                </a:solidFill>
              </a:rPr>
              <a:t>Checkpoint pace = monthly gain needed to reach 65% six months after funding, from Dec 2025 levels.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B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APPENDIX A  ·  EVIDENCE SOURCE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dashboard shows the same story: 66.2% nationally, 8 regions below the 65% line</a:t>
            </a:r>
            <a:endParaRPr lang="en-US" sz="2800" dirty="0"/>
          </a:p>
        </p:txBody>
      </p:sp>
      <p:pic>
        <p:nvPicPr>
          <p:cNvPr id="4" name="Power BI dashboard screenshot" descr="Power BI dashboard: KPI cards, national trend vs 65% target, regional adoption bars with 65% reference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201504" cy="4069080"/>
          </a:xfrm>
          <a:prstGeom prst="rect">
            <a:avLst/>
          </a:prstGeom>
        </p:spPr>
      </p:pic>
      <p:sp>
        <p:nvSpPr>
          <p:cNvPr id="5" name="Screenshot frame"/>
          <p:cNvSpPr/>
          <p:nvPr/>
        </p:nvSpPr>
        <p:spPr>
          <a:xfrm>
            <a:off x="548640" y="1874520"/>
            <a:ext cx="7201504" cy="4069080"/>
          </a:xfrm>
          <a:prstGeom prst="rect">
            <a:avLst/>
          </a:prstGeom>
          <a:ln w="9525">
            <a:solidFill>
              <a:srgbClr val="D5E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70184" y="1874520"/>
            <a:ext cx="35728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KPI cards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 2025 adoption (66.2%) and number of regions below target (8)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70184" y="2898648"/>
            <a:ext cx="35728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Monthly national adoption vs the 65% target line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70184" y="3922776"/>
            <a:ext cx="35728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Regional bars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Sorted lowest first; red = below target, grey = on/above; dashed 65% line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70184" y="4946904"/>
            <a:ext cx="35728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Filter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Region dropdown slicer (default: All)</a:t>
            </a:r>
            <a:endParaRPr lang="en-US" sz="1300" dirty="0"/>
          </a:p>
        </p:txBody>
      </p:sp>
      <p:sp>
        <p:nvSpPr>
          <p:cNvPr id="10" name="Source note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6"/>
                </a:solidFill>
              </a:rPr>
              <a:t>Power BI report “Tayseer - Digital Adoption” (My workspace), semantic model “Tayseer Digital Adoption”. Use live for Q&amp;A.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APPENDIX B  ·  METHOD AND DATA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the story traces back to one user-weighted measure on one dataset</a:t>
            </a:r>
            <a:endParaRPr lang="en-US" sz="2800" dirty="0"/>
          </a:p>
        </p:txBody>
      </p:sp>
      <p:graphicFrame>
        <p:nvGraphicFramePr>
          <p:cNvPr id="10" name="Metho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Tayseer services dataset: 24,960 rows, Jan 2022–Dec 2025, 13 regions × 8 service categories × 5 channels (synthetic, course-provided)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Adoption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Σ(digital_adoption_pct × unique_users) ÷ Σ unique_users — the same formula as the Tableau lab; built as a DAX measure in Power BI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December 2025 (latest month) for regional status; 2025 full-year averages for channel and cost comparisons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to 65%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65% ÷ the region's average monthly gain, Jan 2022–Dec 2025 (linear pace)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weights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still to convert = (65% − adoption) × Dec 2025 monthly unique users; SAR 40M split pro rata, rounded to whole millions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Single-month snapshots are noisy; the same four regions are also the bottom four on 2025 full-year averages. Pace and expected effects are targets, not forecasts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APPENDIX C  ·  Q&amp;A PREPARATION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questions, and how each answer bridges back to the decision</a:t>
            </a:r>
            <a:endParaRPr lang="en-US" sz="2800" dirty="0"/>
          </a:p>
        </p:txBody>
      </p:sp>
      <p:sp>
        <p:nvSpPr>
          <p:cNvPr id="4" name="QA 1"/>
          <p:cNvSpPr/>
          <p:nvPr/>
        </p:nvSpPr>
        <p:spPr>
          <a:xfrm>
            <a:off x="548640" y="192024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614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Why not fund all eight below-target regions?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Asir, Tabuk, Hail and Al-Jouf are within 0.7 pts and cross 65% within ~3 months at today's pace. Funding them buys little; we keep them on the dashboard watch-list.</a:t>
            </a:r>
            <a:endParaRPr lang="en-US" sz="1600" dirty="0"/>
          </a:p>
        </p:txBody>
      </p:sp>
      <p:sp>
        <p:nvSpPr>
          <p:cNvPr id="6" name="QA 2"/>
          <p:cNvSpPr/>
          <p:nvPr/>
        </p:nvSpPr>
        <p:spPr>
          <a:xfrm>
            <a:off x="6233008" y="192024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07328" y="2057400"/>
            <a:ext cx="48614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Is December 2025 just a bad month?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— on 2025 full-year averages the same four regions are the bottom four (60.4–61.6%). The ranking holds.</a:t>
            </a:r>
            <a:endParaRPr lang="en-US" sz="1600" dirty="0"/>
          </a:p>
        </p:txBody>
      </p:sp>
      <p:sp>
        <p:nvSpPr>
          <p:cNvPr id="8" name="QA 3"/>
          <p:cNvSpPr/>
          <p:nvPr/>
        </p:nvSpPr>
        <p:spPr>
          <a:xfrm>
            <a:off x="548640" y="379476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31920"/>
            <a:ext cx="48614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Your numbers look wrong.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measure is user-weighted and matches the dashboard. Even if one region moves by a point, the deep-gap four stay the priority.</a:t>
            </a:r>
            <a:endParaRPr lang="en-US" sz="1600" dirty="0"/>
          </a:p>
        </p:txBody>
      </p:sp>
      <p:sp>
        <p:nvSpPr>
          <p:cNvPr id="10" name="QA 4"/>
          <p:cNvSpPr/>
          <p:nvPr/>
        </p:nvSpPr>
        <p:spPr>
          <a:xfrm>
            <a:off x="6233008" y="3794760"/>
            <a:ext cx="541004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3931920"/>
            <a:ext cx="48614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if a region doesn't respond?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day-90 checkpoint: a region below its required pace has its remaining funds moved to the regions that are on track.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yseer Capstone">
  <a:themeElements>
    <a:clrScheme name="Tayseer Capstone">
      <a:dk1>
        <a:srgbClr val="1A2421"/>
      </a:dk1>
      <a:lt1>
        <a:srgbClr val="FFFFFF"/>
      </a:lt1>
      <a:dk2>
        <a:srgbClr val="0F3B2E"/>
      </a:dk2>
      <a:lt2>
        <a:srgbClr val="EEF4F1"/>
      </a:lt2>
      <a:accent1>
        <a:srgbClr val="1B7F5B"/>
      </a:accent1>
      <a:accent2>
        <a:srgbClr val="C2452D"/>
      </a:accent2>
      <a:accent3>
        <a:srgbClr val="C8962E"/>
      </a:accent3>
      <a:accent4>
        <a:srgbClr val="7F8F89"/>
      </a:accent4>
      <a:accent5>
        <a:srgbClr val="5FA88A"/>
      </a:accent5>
      <a:accent6>
        <a:srgbClr val="2E5E8C"/>
      </a:accent6>
      <a:hlink>
        <a:srgbClr val="1B7F5B"/>
      </a:hlink>
      <a:folHlink>
        <a:srgbClr val="7F8F89"/>
      </a:folHlink>
    </a:clrScheme>
    <a:fontScheme name="Tayseer Capst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Tayseer Digital Adoption - SAR 40M Investment Priority</dc:title>
  <dc:subject>SDA-DSC-112 Data Visualization &amp; Storytelling Capstone</dc:subject>
  <dc:creator>Capstone team</dc:creator>
  <cp:lastModifiedBy>Capstone team</cp:lastModifiedBy>
  <cp:revision>1</cp:revision>
  <dcterms:created xsi:type="dcterms:W3CDTF">2026-10-06T16:24:31Z</dcterms:created>
  <dcterms:modified xsi:type="dcterms:W3CDTF">2026-10-06T16:24:31Z</dcterms:modified>
</cp:coreProperties>
</file>